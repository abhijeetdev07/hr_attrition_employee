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64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548555"/>
            <a:ext cx="4860338" cy="2279159"/>
          </a:xfrm>
        </p:spPr>
        <p:txBody>
          <a:bodyPr anchor="t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986" y="3948396"/>
            <a:ext cx="4933145" cy="751016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085" y="4819569"/>
            <a:ext cx="3268158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99142" y="4819569"/>
            <a:ext cx="1073585" cy="273844"/>
          </a:xfrm>
        </p:spPr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87014" y="4819569"/>
            <a:ext cx="452336" cy="273844"/>
          </a:xfrm>
        </p:spPr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5001" y="0"/>
            <a:ext cx="3428999" cy="51435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400050" y="4743580"/>
            <a:ext cx="486033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400050" y="3888318"/>
            <a:ext cx="48453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400050" y="384542"/>
            <a:ext cx="4842307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927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60" y="249231"/>
            <a:ext cx="8440250" cy="6824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1116699"/>
            <a:ext cx="8440251" cy="35255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397765" y="1017977"/>
            <a:ext cx="83693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288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6129910" y="397819"/>
            <a:ext cx="2614040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6129910" y="4123846"/>
            <a:ext cx="261404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976" y="576264"/>
            <a:ext cx="2764242" cy="2132645"/>
          </a:xfrm>
        </p:spPr>
        <p:txBody>
          <a:bodyPr anchor="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704261" cy="51435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5483" y="4260850"/>
            <a:ext cx="2741735" cy="498143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55483" y="4819569"/>
            <a:ext cx="1721294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723510" y="4819569"/>
            <a:ext cx="656869" cy="273844"/>
          </a:xfrm>
        </p:spPr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016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574313"/>
            <a:ext cx="7226751" cy="25913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071" y="3953883"/>
            <a:ext cx="7209799" cy="7510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400050" y="3888318"/>
            <a:ext cx="83439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400050" y="4743450"/>
            <a:ext cx="83439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93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248" y="2263806"/>
            <a:ext cx="6720840" cy="2435606"/>
          </a:xfrm>
        </p:spPr>
        <p:txBody>
          <a:bodyPr anchor="b">
            <a:normAutofit/>
          </a:bodyPr>
          <a:lstStyle>
            <a:lvl1pPr>
              <a:defRPr sz="49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397984" y="398968"/>
            <a:ext cx="834596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400050" y="4743450"/>
            <a:ext cx="83439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146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94639"/>
            <a:ext cx="5644134" cy="1411946"/>
          </a:xfrm>
        </p:spPr>
        <p:txBody>
          <a:bodyPr anchor="t">
            <a:normAutofit/>
          </a:bodyPr>
          <a:lstStyle>
            <a:lvl1pPr>
              <a:defRPr sz="49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143" y="1876684"/>
            <a:ext cx="5619743" cy="2752467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buFont typeface="+mj-lt"/>
              <a:buAutoNum type="arabicPeriod"/>
              <a:defRPr lang="en-US" sz="1500" dirty="0"/>
            </a:lvl1pPr>
            <a:lvl2pPr marL="600075" indent="-257175">
              <a:buFont typeface="+mj-lt"/>
              <a:buAutoNum type="arabicPeriod"/>
              <a:defRPr lang="en-US" sz="1350" dirty="0"/>
            </a:lvl2pPr>
            <a:lvl3pPr marL="942975" indent="-257175">
              <a:buFont typeface="+mj-lt"/>
              <a:buAutoNum type="arabicPeriod"/>
              <a:defRPr lang="en-US" sz="1200" dirty="0"/>
            </a:lvl3pPr>
            <a:lvl4pPr marL="1285875" indent="-257175">
              <a:buFont typeface="+mj-lt"/>
              <a:buAutoNum type="arabicPeriod"/>
              <a:defRPr lang="en-US" sz="1200" dirty="0"/>
            </a:lvl4pPr>
            <a:lvl5pPr marL="1628775" indent="-257175"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555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01139"/>
            <a:ext cx="4887704" cy="1568301"/>
          </a:xfrm>
        </p:spPr>
        <p:txBody>
          <a:bodyPr anchor="t">
            <a:normAutofit/>
          </a:bodyPr>
          <a:lstStyle>
            <a:lvl1pPr>
              <a:defRPr sz="49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395" y="2173081"/>
            <a:ext cx="4862060" cy="245987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500" dirty="0"/>
            </a:lvl1pPr>
            <a:lvl2pPr marL="600075" indent="-257175">
              <a:buFont typeface="+mj-lt"/>
              <a:buAutoNum type="arabicPeriod"/>
              <a:defRPr lang="en-US" sz="1350" dirty="0"/>
            </a:lvl2pPr>
            <a:lvl3pPr marL="942975" indent="-257175">
              <a:buFont typeface="+mj-lt"/>
              <a:buAutoNum type="arabicPeriod"/>
              <a:defRPr lang="en-US" sz="1200" dirty="0"/>
            </a:lvl3pPr>
            <a:lvl4pPr marL="1285875" indent="-257175">
              <a:buFont typeface="+mj-lt"/>
              <a:buAutoNum type="arabicPeriod"/>
              <a:defRPr lang="en-US" sz="1200" dirty="0"/>
            </a:lvl4pPr>
            <a:lvl5pPr marL="1628775" indent="-257175"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752" y="4819569"/>
            <a:ext cx="3227261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71887" y="4812501"/>
            <a:ext cx="1065233" cy="273844"/>
          </a:xfrm>
        </p:spPr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7120" y="4812501"/>
            <a:ext cx="452336" cy="273844"/>
          </a:xfrm>
        </p:spPr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1"/>
            <a:ext cx="3428999" cy="51434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397764" y="2003100"/>
            <a:ext cx="4802142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910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0" y="1049800"/>
            <a:ext cx="3102346" cy="218906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835" y="1048814"/>
            <a:ext cx="4687515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397765" y="4742180"/>
            <a:ext cx="83693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443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326839"/>
            <a:ext cx="3201430" cy="218906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3589" y="557330"/>
            <a:ext cx="4707803" cy="3984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4114800" y="396367"/>
            <a:ext cx="46291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397765" y="4743450"/>
            <a:ext cx="83693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878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400" y="518901"/>
            <a:ext cx="4248549" cy="9094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0051" y="400050"/>
            <a:ext cx="3714750" cy="4358946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399" y="1505740"/>
            <a:ext cx="4248549" cy="32364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543888" y="397764"/>
            <a:ext cx="420006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479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478" y="518900"/>
            <a:ext cx="5010473" cy="9130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0050" y="400050"/>
            <a:ext cx="2914650" cy="4358943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478" y="1508024"/>
            <a:ext cx="5010473" cy="3235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3738073" y="400050"/>
            <a:ext cx="501047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03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0" y="518900"/>
            <a:ext cx="4998419" cy="9130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663" y="1508025"/>
            <a:ext cx="4996427" cy="32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5000" y="400050"/>
            <a:ext cx="3028950" cy="43434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5001" y="4819569"/>
            <a:ext cx="2665379" cy="273844"/>
          </a:xfrm>
        </p:spPr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387314" y="397764"/>
            <a:ext cx="4925775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27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32" y="518901"/>
            <a:ext cx="3433202" cy="1079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532" y="1658389"/>
            <a:ext cx="3433202" cy="29662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14800" y="400050"/>
            <a:ext cx="4629150" cy="43434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387313" y="397764"/>
            <a:ext cx="3327437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42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417" y="384008"/>
            <a:ext cx="5094052" cy="94494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0050" y="400050"/>
            <a:ext cx="2914650" cy="43434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6143" y="4819569"/>
            <a:ext cx="3102857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6417" y="1611630"/>
            <a:ext cx="5094052" cy="3121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3714750" y="1419440"/>
            <a:ext cx="5029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157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6451" y="518900"/>
            <a:ext cx="2289428" cy="15087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0049" y="400050"/>
            <a:ext cx="5750720" cy="4341568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6451" y="2167386"/>
            <a:ext cx="2289428" cy="2576064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6545656" y="400050"/>
            <a:ext cx="2198295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478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3622271"/>
            <a:ext cx="3216788" cy="1059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0050" y="400050"/>
            <a:ext cx="8343900" cy="301041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6143" y="4819569"/>
            <a:ext cx="3216788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834" y="3622272"/>
            <a:ext cx="4916117" cy="1147156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176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17" y="518901"/>
            <a:ext cx="3050791" cy="11696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0050" y="1891365"/>
            <a:ext cx="2914650" cy="2852086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514" y="521208"/>
            <a:ext cx="5029200" cy="4222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6143" y="4819569"/>
            <a:ext cx="2988557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596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221968"/>
            <a:ext cx="3000376" cy="14171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0050" y="398918"/>
            <a:ext cx="2914652" cy="2702696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1" y="521208"/>
            <a:ext cx="5029199" cy="4130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3714751" y="398918"/>
            <a:ext cx="50291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400050" y="4743450"/>
            <a:ext cx="83439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183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667" y="3805955"/>
            <a:ext cx="8374667" cy="801176"/>
          </a:xfrm>
        </p:spPr>
        <p:txBody>
          <a:bodyPr anchor="ctr">
            <a:normAutofit/>
          </a:bodyPr>
          <a:lstStyle>
            <a:lvl1pPr algn="ctr">
              <a:defRPr sz="2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7315" y="371875"/>
            <a:ext cx="8369372" cy="318449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24000" cap="none" baseline="0">
                <a:solidFill>
                  <a:schemeClr val="accent1"/>
                </a:solidFill>
                <a:latin typeface="+mj-lt"/>
              </a:defRPr>
            </a:lvl1pPr>
            <a:lvl2pPr marL="17145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2pPr>
            <a:lvl3pPr marL="342900" indent="0" algn="ctr">
              <a:lnSpc>
                <a:spcPct val="110000"/>
              </a:lnSpc>
              <a:buNone/>
              <a:defRPr sz="1500" cap="none" baseline="0">
                <a:solidFill>
                  <a:schemeClr val="tx1"/>
                </a:solidFill>
                <a:latin typeface="+mj-lt"/>
              </a:defRPr>
            </a:lvl3pPr>
            <a:lvl4pPr marL="514350" indent="0" algn="ctr">
              <a:lnSpc>
                <a:spcPct val="110000"/>
              </a:lnSpc>
              <a:buNone/>
              <a:defRPr sz="1350" cap="none" baseline="0">
                <a:solidFill>
                  <a:schemeClr val="tx1"/>
                </a:solidFill>
                <a:latin typeface="+mj-lt"/>
              </a:defRPr>
            </a:lvl4pPr>
            <a:lvl5pPr marL="685800" indent="0" algn="ctr">
              <a:lnSpc>
                <a:spcPct val="110000"/>
              </a:lnSpc>
              <a:buNone/>
              <a:defRPr sz="12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397765" y="3629748"/>
            <a:ext cx="83693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397765" y="4743450"/>
            <a:ext cx="83693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866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8610" y="541782"/>
            <a:ext cx="8071866" cy="409422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5400" cap="all" baseline="0" dirty="0">
                <a:latin typeface="+mj-lt"/>
              </a:defRPr>
            </a:lvl1pPr>
            <a:lvl2pPr marL="342900" indent="0">
              <a:lnSpc>
                <a:spcPct val="90000"/>
              </a:lnSpc>
              <a:buNone/>
              <a:defRPr lang="en-US" sz="4950" cap="all" baseline="0" dirty="0">
                <a:latin typeface="+mj-lt"/>
              </a:defRPr>
            </a:lvl2pPr>
            <a:lvl3pPr marL="685800" indent="0">
              <a:lnSpc>
                <a:spcPct val="90000"/>
              </a:lnSpc>
              <a:buNone/>
              <a:defRPr lang="en-US" sz="4500" cap="all" baseline="0" dirty="0">
                <a:latin typeface="+mj-lt"/>
              </a:defRPr>
            </a:lvl3pPr>
            <a:lvl4pPr marL="1028700" indent="0">
              <a:lnSpc>
                <a:spcPct val="90000"/>
              </a:lnSpc>
              <a:buNone/>
              <a:defRPr lang="en-US" sz="4500" cap="all" baseline="0" dirty="0">
                <a:latin typeface="+mj-lt"/>
              </a:defRPr>
            </a:lvl4pPr>
            <a:lvl5pPr marL="1371600" indent="0">
              <a:lnSpc>
                <a:spcPct val="90000"/>
              </a:lnSpc>
              <a:buNone/>
              <a:defRPr lang="en-US" sz="45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397764" y="400050"/>
            <a:ext cx="834618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397764" y="4743450"/>
            <a:ext cx="834618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655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823" y="4114801"/>
            <a:ext cx="7104355" cy="704768"/>
          </a:xfrm>
        </p:spPr>
        <p:txBody>
          <a:bodyPr anchor="ctr">
            <a:normAutofit/>
          </a:bodyPr>
          <a:lstStyle>
            <a:lvl1pPr marL="102870" indent="-102870" algn="ctr">
              <a:lnSpc>
                <a:spcPct val="100000"/>
              </a:lnSpc>
              <a:defRPr sz="135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19821" y="500633"/>
            <a:ext cx="7060151" cy="300824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300" b="0" cap="none" spc="38" baseline="0">
                <a:solidFill>
                  <a:schemeClr val="accent1"/>
                </a:solidFill>
                <a:latin typeface="+mn-lt"/>
              </a:defRPr>
            </a:lvl1pPr>
            <a:lvl2pPr marL="171450" indent="0" algn="ctr">
              <a:lnSpc>
                <a:spcPct val="100000"/>
              </a:lnSpc>
              <a:buNone/>
              <a:defRPr sz="3000" b="0" cap="none" spc="38" baseline="0">
                <a:solidFill>
                  <a:schemeClr val="accent1"/>
                </a:solidFill>
                <a:latin typeface="+mn-lt"/>
              </a:defRPr>
            </a:lvl2pPr>
            <a:lvl3pPr marL="342900" indent="0" algn="ctr">
              <a:lnSpc>
                <a:spcPct val="100000"/>
              </a:lnSpc>
              <a:buNone/>
              <a:defRPr sz="2700" b="0" cap="none" spc="38" baseline="0">
                <a:solidFill>
                  <a:schemeClr val="accent1"/>
                </a:solidFill>
                <a:latin typeface="+mn-lt"/>
              </a:defRPr>
            </a:lvl3pPr>
            <a:lvl4pPr marL="514350" indent="0" algn="ctr">
              <a:lnSpc>
                <a:spcPct val="100000"/>
              </a:lnSpc>
              <a:buNone/>
              <a:defRPr sz="2400" b="0" cap="none" spc="38" baseline="0">
                <a:solidFill>
                  <a:schemeClr val="accent1"/>
                </a:solidFill>
                <a:latin typeface="+mn-lt"/>
              </a:defRPr>
            </a:lvl4pPr>
            <a:lvl5pPr marL="685800" indent="0" algn="ctr">
              <a:lnSpc>
                <a:spcPct val="100000"/>
              </a:lnSpc>
              <a:buNone/>
              <a:defRPr sz="2100" b="0" cap="none" spc="38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049768" y="3884019"/>
            <a:ext cx="704001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875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74320"/>
            <a:ext cx="8429624" cy="6858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14325" y="1285875"/>
            <a:ext cx="3979069" cy="32920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59452" y="1289304"/>
            <a:ext cx="3991356" cy="3292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400051" y="1017977"/>
            <a:ext cx="83693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814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274320"/>
            <a:ext cx="8442198" cy="6858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286" y="1117854"/>
            <a:ext cx="3991356" cy="48217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none" baseline="0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14325" y="1659731"/>
            <a:ext cx="3977879" cy="2919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1117854"/>
            <a:ext cx="3991356" cy="48217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none" baseline="0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58929" y="1659731"/>
            <a:ext cx="3991356" cy="2919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397765" y="1017977"/>
            <a:ext cx="83693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939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182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903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06457"/>
            <a:ext cx="8442198" cy="1668889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2567476"/>
            <a:ext cx="8429624" cy="217597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342900" indent="0">
              <a:buNone/>
              <a:defRPr lang="en-US" dirty="0"/>
            </a:lvl2pPr>
            <a:lvl3pPr marL="685800" indent="0">
              <a:buNone/>
              <a:defRPr lang="en-US" dirty="0"/>
            </a:lvl3pPr>
            <a:lvl4pPr marL="1028700" indent="0">
              <a:buNone/>
              <a:defRPr lang="en-US" dirty="0"/>
            </a:lvl4pPr>
            <a:lvl5pPr marL="13716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400051" y="2234141"/>
            <a:ext cx="83693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539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7179"/>
            <a:ext cx="8442198" cy="1884549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3625540"/>
            <a:ext cx="8429624" cy="105410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500" dirty="0"/>
            </a:lvl1pPr>
            <a:lvl2pPr marL="342900" indent="0">
              <a:buNone/>
              <a:defRPr lang="en-US" sz="1350" dirty="0"/>
            </a:lvl2pPr>
            <a:lvl3pPr marL="685800" indent="0">
              <a:buNone/>
              <a:defRPr lang="en-US" sz="1200" dirty="0"/>
            </a:lvl3pPr>
            <a:lvl4pPr marL="1028700" indent="0">
              <a:buNone/>
              <a:defRPr lang="en-US" sz="1050" dirty="0"/>
            </a:lvl4pPr>
            <a:lvl5pPr marL="13716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400050" y="3398719"/>
            <a:ext cx="83438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342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34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397764" y="400050"/>
            <a:ext cx="83439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38" y="518902"/>
            <a:ext cx="8432713" cy="6758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230" y="1316064"/>
            <a:ext cx="8430720" cy="3308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143" y="4819569"/>
            <a:ext cx="35165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4654" y="4819569"/>
            <a:ext cx="249572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A3FF251-6B47-444A-AEC7-34AFF5EF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4640" y="4819569"/>
            <a:ext cx="4523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D2856A59-C31F-4E20-B370-9BF303C8699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625" y="4981575"/>
            <a:ext cx="1483519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5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238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  <p:sldLayoutId id="2147483816" r:id="rId24"/>
    <p:sldLayoutId id="2147483817" r:id="rId25"/>
    <p:sldLayoutId id="2147483818" r:id="rId26"/>
    <p:sldLayoutId id="2147483819" r:id="rId27"/>
    <p:sldLayoutId id="2147483820" r:id="rId2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32857" y="274320"/>
            <a:ext cx="63354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Insights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1822269" y="1221377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 and Power BI Dashboard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09651" y="190064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(Pandas, NumPy), EDA  |  SQL  |  Power BI (DAX)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43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why employees leave the company and measure the attrition rate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74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employees who left with those who stayed across demographics, pay, career stage and work conditions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drivers and the highest-risk employee groups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37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for HR to track attrition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069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practical actions to improve retention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4FE2A0-4156-2672-52AA-08DCDDAD80DF}"/>
              </a:ext>
            </a:extLst>
          </p:cNvPr>
          <p:cNvSpPr/>
          <p:nvPr/>
        </p:nvSpPr>
        <p:spPr>
          <a:xfrm>
            <a:off x="-1" y="4948947"/>
            <a:ext cx="1763949" cy="19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188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188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(237 left)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contains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HR Analytics dataset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Personal: age, gender, marital status, education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department, role, level, overtime, travel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Pay: income, salary hike, stock options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tenure and satisfaction scores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9260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column: Attrition (Yes / No)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4 constant or ID columns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17 categorical and 14 continuous columns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</a:t>
            </a:r>
            <a:endParaRPr lang="en-US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653158-1645-41ED-62F6-D2E619E9FAF0}"/>
              </a:ext>
            </a:extLst>
          </p:cNvPr>
          <p:cNvSpPr/>
          <p:nvPr/>
        </p:nvSpPr>
        <p:spPr>
          <a:xfrm>
            <a:off x="-1" y="4948947"/>
            <a:ext cx="1763949" cy="19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4688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and NumPy for cleaning and analysis; EDA with univariate and bivariate analysis; Matplotlib and Seaborn for charts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24688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and summarising the data; attrition counts and rates by department, job role and other segments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24688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(DAX)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11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such as Attrition Rate % and High Risk Active; 4-page interactive dashboard with slicers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CE64C-4BF4-02DB-3D97-5E8C3C403847}"/>
              </a:ext>
            </a:extLst>
          </p:cNvPr>
          <p:cNvSpPr/>
          <p:nvPr/>
        </p:nvSpPr>
        <p:spPr>
          <a:xfrm>
            <a:off x="-1" y="4948947"/>
            <a:ext cx="1763949" cy="19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0AEC2E-8F2F-A372-B5A8-0294FAC88B55}"/>
              </a:ext>
            </a:extLst>
          </p:cNvPr>
          <p:cNvSpPr/>
          <p:nvPr/>
        </p:nvSpPr>
        <p:spPr>
          <a:xfrm>
            <a:off x="19131" y="4915108"/>
            <a:ext cx="1763949" cy="19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(Python)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Countplots for categorical columns, histograms for continuous columns, split by Attrition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attrition rates, not just counts, because larger groups always show more leavers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and Mann-Whitney tests checked which columns really relate to attrition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or no link: gender, performance rating, hourly and monthly rate</a:t>
            </a:r>
            <a:endParaRPr lang="en-US" sz="1400" dirty="0"/>
          </a:p>
        </p:txBody>
      </p:sp>
      <p:pic>
        <p:nvPicPr>
          <p:cNvPr id="4" name="Image 0" descr="/mnt/user-data/uploads/179119712781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05840"/>
            <a:ext cx="2103120" cy="3571779"/>
          </a:xfrm>
          <a:prstGeom prst="rect">
            <a:avLst/>
          </a:prstGeom>
        </p:spPr>
      </p:pic>
      <p:pic>
        <p:nvPicPr>
          <p:cNvPr id="5" name="Image 1" descr="/mnt/user-data/uploads/179119714100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005840"/>
            <a:ext cx="2103120" cy="352186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34840" y="4650771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629400" y="4650771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columns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E93CC1-A169-4B9B-621E-3FE46953404E}"/>
              </a:ext>
            </a:extLst>
          </p:cNvPr>
          <p:cNvSpPr/>
          <p:nvPr/>
        </p:nvSpPr>
        <p:spPr>
          <a:xfrm>
            <a:off x="-1" y="4948947"/>
            <a:ext cx="1763949" cy="19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and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vs 10.4%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biggest driver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staff leave 3 times as often. They are 28% of employees but 54% of all leavers.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leave early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 year at the company: 36.4%. Under 5 years of experience: 32.9%. It falls to about 7% at 20 to 30 years.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97764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pay and low job level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up to 3,000 a month: 28.6% (5.6% above 12,000). Job level 1 accounts for 143 of 237 leavers.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397764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 are the hot spot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job role. Sales is also the highest department at 20.6%.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D3C37A-3E7D-8838-ED70-AAE4067A49C6}"/>
              </a:ext>
            </a:extLst>
          </p:cNvPr>
          <p:cNvSpPr/>
          <p:nvPr/>
        </p:nvSpPr>
        <p:spPr>
          <a:xfrm>
            <a:off x="-1" y="4948947"/>
            <a:ext cx="1763949" cy="19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Visuals: Overview and Demographics</a:t>
            </a:r>
            <a:endParaRPr lang="en-US" sz="2800" dirty="0"/>
          </a:p>
        </p:txBody>
      </p:sp>
      <p:pic>
        <p:nvPicPr>
          <p:cNvPr id="3" name="Image 0" descr="/mnt/user-data/uploads/Screenshot_2026-10-04_2311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977640" cy="24822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89295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Overview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91047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employees, 237 left (16.12%). Sales Representative has the highest job-role attrition at 39.76%.</a:t>
            </a:r>
            <a:endParaRPr lang="en-US" sz="1200" dirty="0"/>
          </a:p>
        </p:txBody>
      </p:sp>
      <p:pic>
        <p:nvPicPr>
          <p:cNvPr id="6" name="Image 1" descr="/mnt/user-data/uploads/Screenshot_2026-10-04_2311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97280"/>
            <a:ext cx="3977640" cy="248021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09160" y="368722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Demographics and Compensation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3988975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highest under age 25 (39.18%) and for single employees (25.53%). Gender makes little difference.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Visuals: Career and Insights</a:t>
            </a:r>
            <a:endParaRPr lang="en-US" sz="2800" dirty="0"/>
          </a:p>
        </p:txBody>
      </p:sp>
      <p:pic>
        <p:nvPicPr>
          <p:cNvPr id="3" name="Image 0" descr="car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977640" cy="240115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08165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Career, Tenure and Work Environment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09917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(30.53%), frequent travel (24.91%) and the first year (36.36%) show the highest attrition.</a:t>
            </a:r>
            <a:endParaRPr lang="en-US" sz="1200" dirty="0"/>
          </a:p>
        </p:txBody>
      </p:sp>
      <p:pic>
        <p:nvPicPr>
          <p:cNvPr id="6" name="Image 1" descr="ins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97280"/>
            <a:ext cx="3977640" cy="24164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09160" y="36234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Insights and Recommendations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3925176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key insights and actions in one place, with 19 high-risk employees still active.</a:t>
            </a:r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1E3CD9-1CD9-7F32-A423-4060F6BB3A46}"/>
              </a:ext>
            </a:extLst>
          </p:cNvPr>
          <p:cNvSpPr/>
          <p:nvPr/>
        </p:nvSpPr>
        <p:spPr>
          <a:xfrm>
            <a:off x="-1" y="4948947"/>
            <a:ext cx="1763949" cy="19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overtime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08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hours, rebalance workload and track it monthly, starting with Sales.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first year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508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onboarding, a mentor and 30/60/90-day check-ins for new hires.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97764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entry-level pay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697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job level 1 pay (under 3,000) and set a clear promotion path.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397764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56032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Sales Representative roles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697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targets, commission and workload; run exit interviews.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397764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long-term incentives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stock options to level 0 staff (24.4% attrition vs 9.4% at level 1).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3474720"/>
            <a:ext cx="397764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74904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the high-risk group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current employees are single, on overtime and at job level 1. Hold stay interviews now.</a:t>
            </a:r>
            <a:endParaRPr lang="en-US" sz="11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9ED644-0606-A8F8-8E65-473E6A8D10F3}"/>
              </a:ext>
            </a:extLst>
          </p:cNvPr>
          <p:cNvSpPr/>
          <p:nvPr/>
        </p:nvSpPr>
        <p:spPr>
          <a:xfrm>
            <a:off x="-1" y="4948947"/>
            <a:ext cx="1763949" cy="19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20</TotalTime>
  <Words>671</Words>
  <Application>Microsoft Office PowerPoint</Application>
  <PresentationFormat>On-screen Show (16:9)</PresentationFormat>
  <Paragraphs>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Nova Light</vt:lpstr>
      <vt:lpstr>Calibri</vt:lpstr>
      <vt:lpstr>Univers Condensed</vt:lpstr>
      <vt:lpstr>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Insights</dc:title>
  <dc:subject>PptxGenJS Presentation</dc:subject>
  <dc:creator>PptxGenJS</dc:creator>
  <cp:lastModifiedBy>abhijeet ugale</cp:lastModifiedBy>
  <cp:revision>3</cp:revision>
  <dcterms:created xsi:type="dcterms:W3CDTF">2026-10-05T10:50:01Z</dcterms:created>
  <dcterms:modified xsi:type="dcterms:W3CDTF">2026-10-05T11:09:49Z</dcterms:modified>
</cp:coreProperties>
</file>